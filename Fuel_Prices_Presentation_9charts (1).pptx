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8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C2833"/>
                </a:solidFill>
                <a:latin typeface="Calibri"/>
              </a:rPr>
              <a:t>1. Price by Region (USD per litre)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petrol (USD/L)</c:v>
                </c:pt>
              </c:strCache>
            </c:strRef>
          </c:tx>
          <c:spPr>
            <a:solidFill>
              <a:srgbClr val="1F6F9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Europe</c:v>
                  </c:pt>
                  <c:pt idx="1">
                    <c:v>Oceania</c:v>
                  </c:pt>
                  <c:pt idx="2">
                    <c:v>Asia</c:v>
                  </c:pt>
                  <c:pt idx="3">
                    <c:v>N. America</c:v>
                  </c:pt>
                  <c:pt idx="4">
                    <c:v>Africa</c:v>
                  </c:pt>
                  <c:pt idx="5">
                    <c:v>S. America</c:v>
                  </c:pt>
                  <c:pt idx="6">
                    <c:v>Middle East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3.7</c:v>
                </c:pt>
                <c:pt idx="1">
                  <c:v>3.66</c:v>
                </c:pt>
                <c:pt idx="2">
                  <c:v>2.14</c:v>
                </c:pt>
                <c:pt idx="3">
                  <c:v>2.06</c:v>
                </c:pt>
                <c:pt idx="4">
                  <c:v>1.55</c:v>
                </c:pt>
                <c:pt idx="5">
                  <c:v>1.43</c:v>
                </c:pt>
                <c:pt idx="6">
                  <c:v>1.23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C28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D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8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C2833"/>
                </a:solidFill>
                <a:latin typeface="Calibri"/>
              </a:rPr>
              <a:t>3. Price by Subsidy level (USD per litre)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petrol (USD/L)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  <c:pt idx="3">
                    <c:v>Very High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3.45</c:v>
                </c:pt>
                <c:pt idx="1">
                  <c:v>1.66</c:v>
                </c:pt>
                <c:pt idx="2">
                  <c:v>0.71</c:v>
                </c:pt>
                <c:pt idx="3">
                  <c:v>0.15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C28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D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8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C2833"/>
                </a:solidFill>
                <a:latin typeface="Calibri"/>
              </a:rPr>
              <a:t>2. Tax by Region (average tax 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tax %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Oceania</c:v>
                  </c:pt>
                  <c:pt idx="1">
                    <c:v>Europe</c:v>
                  </c:pt>
                  <c:pt idx="2">
                    <c:v>N. America</c:v>
                  </c:pt>
                  <c:pt idx="3">
                    <c:v>Africa</c:v>
                  </c:pt>
                  <c:pt idx="4">
                    <c:v>Asia</c:v>
                  </c:pt>
                  <c:pt idx="5">
                    <c:v>Middle East</c:v>
                  </c:pt>
                  <c:pt idx="6">
                    <c:v>S. America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38.7</c:v>
                </c:pt>
                <c:pt idx="1">
                  <c:v>34.6</c:v>
                </c:pt>
                <c:pt idx="2">
                  <c:v>29.2</c:v>
                </c:pt>
                <c:pt idx="3">
                  <c:v>25.8</c:v>
                </c:pt>
                <c:pt idx="4">
                  <c:v>23</c:v>
                </c:pt>
                <c:pt idx="5">
                  <c:v>19.6</c:v>
                </c:pt>
                <c:pt idx="6">
                  <c:v>18.2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C28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D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8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C2833"/>
                </a:solidFill>
                <a:latin typeface="Calibri"/>
              </a:rPr>
              <a:t>4. Price Trend: petrol (USD per litre)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petrol (USD/L)</c:v>
                </c:pt>
              </c:strCache>
            </c:strRef>
          </c:tx>
          <c:spPr>
            <a:solidFill>
              <a:srgbClr val="1F6F9F"/>
            </a:solidFill>
            <a:ln w="38100" cap="flat">
              <a:solidFill>
                <a:srgbClr val="1F6F9F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6F9F"/>
              </a:solidFill>
              <a:ln w="9525" cap="flat">
                <a:solidFill>
                  <a:srgbClr val="1F6F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1.49</c:v>
                </c:pt>
                <c:pt idx="1">
                  <c:v>2.28</c:v>
                </c:pt>
                <c:pt idx="2">
                  <c:v>2.51</c:v>
                </c:pt>
                <c:pt idx="3">
                  <c:v>2.23</c:v>
                </c:pt>
                <c:pt idx="4">
                  <c:v>2.55</c:v>
                </c:pt>
                <c:pt idx="5">
                  <c:v>2.54</c:v>
                </c:pt>
                <c:pt idx="6">
                  <c:v>2.65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C2833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  <c:min val="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D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8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C2833"/>
                </a:solidFill>
                <a:latin typeface="Calibri"/>
              </a:rPr>
              <a:t>5. Petrol vs Brent: Brent crude (USD)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 crude (USD)</c:v>
                </c:pt>
              </c:strCache>
            </c:strRef>
          </c:tx>
          <c:spPr>
            <a:solidFill>
              <a:srgbClr val="F39C12"/>
            </a:solidFill>
            <a:ln w="38100" cap="flat">
              <a:solidFill>
                <a:srgbClr val="F39C12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77.6</c:v>
                </c:pt>
                <c:pt idx="1">
                  <c:v>106.6</c:v>
                </c:pt>
                <c:pt idx="2">
                  <c:v>117.1</c:v>
                </c:pt>
                <c:pt idx="3">
                  <c:v>104.4</c:v>
                </c:pt>
                <c:pt idx="4">
                  <c:v>119</c:v>
                </c:pt>
                <c:pt idx="5">
                  <c:v>118.7</c:v>
                </c:pt>
                <c:pt idx="6">
                  <c:v>123.7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C2833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6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D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8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C2833"/>
                </a:solidFill>
                <a:latin typeface="Calibri"/>
              </a:rPr>
              <a:t>6. Top 10 Countries: most expensive (USD/L)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petrol (USD/L)</c:v>
                </c:pt>
              </c:strCache>
            </c:strRef>
          </c:tx>
          <c:spPr>
            <a:solidFill>
              <a:srgbClr val="1F6F9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8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Hong Kong</c:v>
                  </c:pt>
                  <c:pt idx="1">
                    <c:v>Norway</c:v>
                  </c:pt>
                  <c:pt idx="2">
                    <c:v>Netherlands</c:v>
                  </c:pt>
                  <c:pt idx="3">
                    <c:v>Ireland</c:v>
                  </c:pt>
                  <c:pt idx="4">
                    <c:v>Denmark</c:v>
                  </c:pt>
                  <c:pt idx="5">
                    <c:v>Singapore</c:v>
                  </c:pt>
                  <c:pt idx="6">
                    <c:v>Sweden</c:v>
                  </c:pt>
                  <c:pt idx="7">
                    <c:v>Switzerland</c:v>
                  </c:pt>
                  <c:pt idx="8">
                    <c:v>Belgium</c:v>
                  </c:pt>
                  <c:pt idx="9">
                    <c:v>Finland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5.54</c:v>
                </c:pt>
                <c:pt idx="1">
                  <c:v>4.76</c:v>
                </c:pt>
                <c:pt idx="2">
                  <c:v>4.66</c:v>
                </c:pt>
                <c:pt idx="3">
                  <c:v>4.65</c:v>
                </c:pt>
                <c:pt idx="4">
                  <c:v>4.54</c:v>
                </c:pt>
                <c:pt idx="5">
                  <c:v>4.54</c:v>
                </c:pt>
                <c:pt idx="6">
                  <c:v>4.43</c:v>
                </c:pt>
                <c:pt idx="7">
                  <c:v>4.39</c:v>
                </c:pt>
                <c:pt idx="8">
                  <c:v>4.32</c:v>
                </c:pt>
                <c:pt idx="9">
                  <c:v>4.26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C28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8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D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8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C2833"/>
                </a:solidFill>
                <a:latin typeface="Calibri"/>
              </a:rPr>
              <a:t>7. World Map view: 10 cheapest (USD/L)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petrol (USD/L)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8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Venezuela</c:v>
                  </c:pt>
                  <c:pt idx="1">
                    <c:v>Iran</c:v>
                  </c:pt>
                  <c:pt idx="2">
                    <c:v>Libya</c:v>
                  </c:pt>
                  <c:pt idx="3">
                    <c:v>Algeria</c:v>
                  </c:pt>
                  <c:pt idx="4">
                    <c:v>Iraq</c:v>
                  </c:pt>
                  <c:pt idx="5">
                    <c:v>Egypt</c:v>
                  </c:pt>
                  <c:pt idx="6">
                    <c:v>Kuwait</c:v>
                  </c:pt>
                  <c:pt idx="7">
                    <c:v>Nigeria</c:v>
                  </c:pt>
                  <c:pt idx="8">
                    <c:v>Qatar</c:v>
                  </c:pt>
                  <c:pt idx="9">
                    <c:v>Saudi Arabia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0.02</c:v>
                </c:pt>
                <c:pt idx="1">
                  <c:v>0.04</c:v>
                </c:pt>
                <c:pt idx="2">
                  <c:v>0.06</c:v>
                </c:pt>
                <c:pt idx="3">
                  <c:v>0.14</c:v>
                </c:pt>
                <c:pt idx="4">
                  <c:v>0.16</c:v>
                </c:pt>
                <c:pt idx="5">
                  <c:v>0.17</c:v>
                </c:pt>
                <c:pt idx="6">
                  <c:v>0.19</c:v>
                </c:pt>
                <c:pt idx="7">
                  <c:v>0.21</c:v>
                </c:pt>
                <c:pt idx="8">
                  <c:v>0.23</c:v>
                </c:pt>
                <c:pt idx="9">
                  <c:v>0.25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C28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8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D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8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C2833"/>
                </a:solidFill>
                <a:latin typeface="Calibri"/>
              </a:rPr>
              <a:t>8. Regional Trend: average petrol price (USD per litre)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1F6F9F"/>
            </a:solidFill>
            <a:ln w="31750" cap="flat">
              <a:solidFill>
                <a:srgbClr val="1F6F9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6F9F"/>
              </a:solidFill>
              <a:ln w="9525" cap="flat">
                <a:solidFill>
                  <a:srgbClr val="1F6F9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2.41</c:v>
                </c:pt>
                <c:pt idx="1">
                  <c:v>3.7</c:v>
                </c:pt>
                <c:pt idx="2">
                  <c:v>4.06</c:v>
                </c:pt>
                <c:pt idx="3">
                  <c:v>3.62</c:v>
                </c:pt>
                <c:pt idx="4">
                  <c:v>4.13</c:v>
                </c:pt>
                <c:pt idx="5">
                  <c:v>4.12</c:v>
                </c:pt>
                <c:pt idx="6">
                  <c:v>4.29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Oceania</c:v>
                </c:pt>
              </c:strCache>
            </c:strRef>
          </c:tx>
          <c:spPr>
            <a:solidFill>
              <a:srgbClr val="F39C12"/>
            </a:solidFill>
            <a:ln w="31750" cap="flat">
              <a:solidFill>
                <a:srgbClr val="F39C1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2.38</c:v>
                </c:pt>
                <c:pt idx="1">
                  <c:v>3.65</c:v>
                </c:pt>
                <c:pt idx="2">
                  <c:v>4.01</c:v>
                </c:pt>
                <c:pt idx="3">
                  <c:v>3.58</c:v>
                </c:pt>
                <c:pt idx="4">
                  <c:v>4.08</c:v>
                </c:pt>
                <c:pt idx="5">
                  <c:v>4.07</c:v>
                </c:pt>
                <c:pt idx="6">
                  <c:v>4.24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</c:v>
                </c:pt>
              </c:strCache>
            </c:strRef>
          </c:tx>
          <c:spPr>
            <a:solidFill>
              <a:srgbClr val="27AE60"/>
            </a:solidFill>
            <a:ln w="31750" cap="flat">
              <a:solidFill>
                <a:srgbClr val="27AE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1.39</c:v>
                </c:pt>
                <c:pt idx="1">
                  <c:v>2.14</c:v>
                </c:pt>
                <c:pt idx="2">
                  <c:v>2.35</c:v>
                </c:pt>
                <c:pt idx="3">
                  <c:v>2.1</c:v>
                </c:pt>
                <c:pt idx="4">
                  <c:v>2.39</c:v>
                </c:pt>
                <c:pt idx="5">
                  <c:v>2.38</c:v>
                </c:pt>
                <c:pt idx="6">
                  <c:v>2.48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1.34</c:v>
                </c:pt>
                <c:pt idx="1">
                  <c:v>2.06</c:v>
                </c:pt>
                <c:pt idx="2">
                  <c:v>2.27</c:v>
                </c:pt>
                <c:pt idx="3">
                  <c:v>2.02</c:v>
                </c:pt>
                <c:pt idx="4">
                  <c:v>2.3</c:v>
                </c:pt>
                <c:pt idx="5">
                  <c:v>2.3</c:v>
                </c:pt>
                <c:pt idx="6">
                  <c:v>2.4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Africa</c:v>
                </c:pt>
              </c:strCache>
            </c:strRef>
          </c:tx>
          <c:spPr>
            <a:solidFill>
              <a:srgbClr val="8E44AD"/>
            </a:solidFill>
            <a:ln w="31750" cap="flat">
              <a:solidFill>
                <a:srgbClr val="8E44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E44AD"/>
              </a:solidFill>
              <a:ln w="9525" cap="flat">
                <a:solidFill>
                  <a:srgbClr val="8E44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1.01</c:v>
                </c:pt>
                <c:pt idx="1">
                  <c:v>1.55</c:v>
                </c:pt>
                <c:pt idx="2">
                  <c:v>1.7</c:v>
                </c:pt>
                <c:pt idx="3">
                  <c:v>1.52</c:v>
                </c:pt>
                <c:pt idx="4">
                  <c:v>1.73</c:v>
                </c:pt>
                <c:pt idx="5">
                  <c:v>1.72</c:v>
                </c:pt>
                <c:pt idx="6">
                  <c:v>1.8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South America</c:v>
                </c:pt>
              </c:strCache>
            </c:strRef>
          </c:tx>
          <c:spPr>
            <a:solidFill>
              <a:srgbClr val="7F8C8D"/>
            </a:solidFill>
            <a:ln w="31750" cap="flat">
              <a:solidFill>
                <a:srgbClr val="7F8C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F8C8D"/>
              </a:solidFill>
              <a:ln w="9525" cap="flat">
                <a:solidFill>
                  <a:srgbClr val="7F8C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0.93</c:v>
                </c:pt>
                <c:pt idx="1">
                  <c:v>1.42</c:v>
                </c:pt>
                <c:pt idx="2">
                  <c:v>1.56</c:v>
                </c:pt>
                <c:pt idx="3">
                  <c:v>1.4</c:v>
                </c:pt>
                <c:pt idx="4">
                  <c:v>1.59</c:v>
                </c:pt>
                <c:pt idx="5">
                  <c:v>1.59</c:v>
                </c:pt>
                <c:pt idx="6">
                  <c:v>1.65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Middle East</c:v>
                </c:pt>
              </c:strCache>
            </c:strRef>
          </c:tx>
          <c:spPr>
            <a:solidFill>
              <a:srgbClr val="16A085"/>
            </a:solidFill>
            <a:ln w="31750" cap="flat">
              <a:solidFill>
                <a:srgbClr val="16A0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085"/>
              </a:solidFill>
              <a:ln w="9525" cap="flat">
                <a:solidFill>
                  <a:srgbClr val="16A0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0.8</c:v>
                </c:pt>
                <c:pt idx="1">
                  <c:v>1.22</c:v>
                </c:pt>
                <c:pt idx="2">
                  <c:v>1.35</c:v>
                </c:pt>
                <c:pt idx="3">
                  <c:v>1.2</c:v>
                </c:pt>
                <c:pt idx="4">
                  <c:v>1.37</c:v>
                </c:pt>
                <c:pt idx="5">
                  <c:v>1.36</c:v>
                </c:pt>
                <c:pt idx="6">
                  <c:v>1.42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833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D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C28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C28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C2833"/>
                </a:solidFill>
                <a:latin typeface="Calibri"/>
              </a:rPr>
              <a:t>9. Price by Income level (USD per litre)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petrol (USD/L)</c:v>
                </c:pt>
              </c:strCache>
            </c:strRef>
          </c:tx>
          <c:spPr>
            <a:solidFill>
              <a:srgbClr val="1F6F9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8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 income</c:v>
                  </c:pt>
                  <c:pt idx="1">
                    <c:v>Middle income</c:v>
                  </c:pt>
                  <c:pt idx="2">
                    <c:v>Low income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3.55</c:v>
                </c:pt>
                <c:pt idx="1">
                  <c:v>1.59</c:v>
                </c:pt>
                <c:pt idx="2">
                  <c:v>1.39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C28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D7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Namaste. Ye mera project hai Global Fuel Prices Analysis, jo maine Tableau mein banaya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Teen log hain: policy consultant, logistics manager aur researcher. Har ke liye ek dashboard banaya.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mein 27,468 rows hain, 84 desh, 2020 se 2026 tak. Koi missing value nahi mili.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Maine data saaf kiya aur Tableau mein 9 visualizations, 3 calculated fields, 3 dashboards aur ek story banayi.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Nau visualizations teen dashboards mein baante 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Europe mein petrol sabse mehenga (3.70) aur Middle East mein sabse sasta (1.23). Subsidy zyada to price bahut kam.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Jin 44 deshon mein subsidy kam hai wahan tax lagbhag 37% hai. Baaki 40 deshon mein lagbhag 15%.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Dono lines saath badhti hain. Crude oil badhta hai to petrol bhi badhta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mein Europe aur Oceania gehre rang ke hain, Middle East halka. Sabse sasta Venezuela, sabse mehenga Hong Kong.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 region ka trend ek jaisa hai. Europe aur Oceania hamesha upar rehte 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income deshon mein price zyada hai kyunki wahan subsidy kam hoti hai.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Teen groups ke liye ek-ek sujhav.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Limits batayein aur Tableau Public ka link dikhayein. Dhanyavaad.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public.tableau.com/app/profile/vidhya.jain/viz/GlobalFuelPricesAnalysis/Story1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Fuel Prices and Taxation Analysis</a:t>
            </a:r>
            <a:endParaRPr lang="en-US" sz="4200" dirty="0"/>
          </a:p>
        </p:txBody>
      </p:sp>
      <p:sp>
        <p:nvSpPr>
          <p:cNvPr id="3" name="Subtitle"/>
          <p:cNvSpPr txBox="1"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countries, 2020 to 2026: prices, taxes and subsidies in Tableau</a:t>
            </a:r>
            <a:endParaRPr lang="en-US" sz="2000" dirty="0"/>
          </a:p>
        </p:txBody>
      </p:sp>
      <p:sp>
        <p:nvSpPr>
          <p:cNvPr id="4" name="Presenter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Vidhya Jain  |  Capstone Project: Data Analysis and Visualization (Tableau)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solve</a:t>
            </a:r>
            <a:endParaRPr lang="en-US" sz="3400" dirty="0"/>
          </a:p>
        </p:txBody>
      </p:sp>
      <p:sp>
        <p:nvSpPr>
          <p:cNvPr id="3" name="Intro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prices differ hugely between countries. Three people need different answers from the same data.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5603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ersona view 1"/>
          <p:cNvSpPr txBox="1"/>
          <p:nvPr/>
        </p:nvSpPr>
        <p:spPr>
          <a:xfrm>
            <a:off x="64008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view</a:t>
            </a:r>
            <a:endParaRPr lang="en-US" sz="2000" dirty="0"/>
          </a:p>
        </p:txBody>
      </p:sp>
      <p:sp>
        <p:nvSpPr>
          <p:cNvPr id="6" name="Persona name 1"/>
          <p:cNvSpPr txBox="1"/>
          <p:nvPr/>
        </p:nvSpPr>
        <p:spPr>
          <a:xfrm>
            <a:off x="6400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Sarah Mitchell</a:t>
            </a:r>
            <a:endParaRPr lang="en-US" sz="1600" dirty="0"/>
          </a:p>
        </p:txBody>
      </p:sp>
      <p:sp>
        <p:nvSpPr>
          <p:cNvPr id="7" name="Persona need 1"/>
          <p:cNvSpPr txBox="1"/>
          <p:nvPr/>
        </p:nvSpPr>
        <p:spPr>
          <a:xfrm>
            <a:off x="640080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policy consultant. Compares tax and subsidy policy across regions.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737360"/>
            <a:ext cx="25603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Persona view 2"/>
          <p:cNvSpPr txBox="1"/>
          <p:nvPr/>
        </p:nvSpPr>
        <p:spPr>
          <a:xfrm>
            <a:off x="347472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view</a:t>
            </a:r>
            <a:endParaRPr lang="en-US" sz="2000" dirty="0"/>
          </a:p>
        </p:txBody>
      </p:sp>
      <p:sp>
        <p:nvSpPr>
          <p:cNvPr id="10" name="Persona name 2"/>
          <p:cNvSpPr txBox="1"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Thompson</a:t>
            </a:r>
            <a:endParaRPr lang="en-US" sz="1600" dirty="0"/>
          </a:p>
        </p:txBody>
      </p:sp>
      <p:sp>
        <p:nvSpPr>
          <p:cNvPr id="11" name="Persona need 2"/>
          <p:cNvSpPr txBox="1"/>
          <p:nvPr/>
        </p:nvSpPr>
        <p:spPr>
          <a:xfrm>
            <a:off x="3474720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manager. Looks for cheap, stable fuel markets and price trends.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56032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Persona view 3"/>
          <p:cNvSpPr txBox="1"/>
          <p:nvPr/>
        </p:nvSpPr>
        <p:spPr>
          <a:xfrm>
            <a:off x="630936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view</a:t>
            </a:r>
            <a:endParaRPr lang="en-US" sz="2000" dirty="0"/>
          </a:p>
        </p:txBody>
      </p:sp>
      <p:sp>
        <p:nvSpPr>
          <p:cNvPr id="14" name="Persona name 3"/>
          <p:cNvSpPr txBox="1"/>
          <p:nvPr/>
        </p:nvSpPr>
        <p:spPr>
          <a:xfrm>
            <a:off x="63093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Elena Rodriguez</a:t>
            </a:r>
            <a:endParaRPr lang="en-US" sz="1600" dirty="0"/>
          </a:p>
        </p:txBody>
      </p:sp>
      <p:sp>
        <p:nvSpPr>
          <p:cNvPr id="15" name="Persona need 3"/>
          <p:cNvSpPr txBox="1"/>
          <p:nvPr/>
        </p:nvSpPr>
        <p:spPr>
          <a:xfrm>
            <a:off x="6309360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economist. Studies how income, subsidy and price are linked.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400" dirty="0"/>
          </a:p>
        </p:txBody>
      </p:sp>
      <p:sp>
        <p:nvSpPr>
          <p:cNvPr id="3" name="Stat weekly records"/>
          <p:cNvSpPr txBox="1"/>
          <p:nvPr/>
        </p:nvSpPr>
        <p:spPr>
          <a:xfrm>
            <a:off x="45720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27,468</a:t>
            </a:r>
            <a:endParaRPr lang="en-US" sz="4000" dirty="0"/>
          </a:p>
        </p:txBody>
      </p:sp>
      <p:sp>
        <p:nvSpPr>
          <p:cNvPr id="4" name="Label weekly records"/>
          <p:cNvSpPr txBox="1"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records</a:t>
            </a:r>
            <a:endParaRPr lang="en-US" sz="1400" dirty="0"/>
          </a:p>
        </p:txBody>
      </p:sp>
      <p:sp>
        <p:nvSpPr>
          <p:cNvPr id="5" name="Stat countries"/>
          <p:cNvSpPr txBox="1"/>
          <p:nvPr/>
        </p:nvSpPr>
        <p:spPr>
          <a:xfrm>
            <a:off x="256032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4000" dirty="0"/>
          </a:p>
        </p:txBody>
      </p:sp>
      <p:sp>
        <p:nvSpPr>
          <p:cNvPr id="6" name="Label countries"/>
          <p:cNvSpPr txBox="1"/>
          <p:nvPr/>
        </p:nvSpPr>
        <p:spPr>
          <a:xfrm>
            <a:off x="25603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400" dirty="0"/>
          </a:p>
        </p:txBody>
      </p:sp>
      <p:sp>
        <p:nvSpPr>
          <p:cNvPr id="7" name="Stat regions"/>
          <p:cNvSpPr txBox="1"/>
          <p:nvPr/>
        </p:nvSpPr>
        <p:spPr>
          <a:xfrm>
            <a:off x="466344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8" name="Label regions"/>
          <p:cNvSpPr txBox="1"/>
          <p:nvPr/>
        </p:nvSpPr>
        <p:spPr>
          <a:xfrm>
            <a:off x="46634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400" dirty="0"/>
          </a:p>
        </p:txBody>
      </p:sp>
      <p:sp>
        <p:nvSpPr>
          <p:cNvPr id="9" name="Stat time span"/>
          <p:cNvSpPr txBox="1"/>
          <p:nvPr/>
        </p:nvSpPr>
        <p:spPr>
          <a:xfrm>
            <a:off x="676656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2020-26</a:t>
            </a:r>
            <a:endParaRPr lang="en-US" sz="4000" dirty="0"/>
          </a:p>
        </p:txBody>
      </p:sp>
      <p:sp>
        <p:nvSpPr>
          <p:cNvPr id="10" name="Label time span"/>
          <p:cNvSpPr txBox="1"/>
          <p:nvPr/>
        </p:nvSpPr>
        <p:spPr>
          <a:xfrm>
            <a:off x="676656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400" dirty="0"/>
          </a:p>
        </p:txBody>
      </p:sp>
      <p:sp>
        <p:nvSpPr>
          <p:cNvPr id="11" name="Dataset points"/>
          <p:cNvSpPr txBox="1"/>
          <p:nvPr/>
        </p:nvSpPr>
        <p:spPr>
          <a:xfrm>
            <a:off x="457200" y="283464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Prices: petrol, diesel, LPG (USD per litre) and Brent crude (USD)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tax percentage and subsidy level (Low to Very High)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Groups: region and income level (Low, Middle, High)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no missing values and no duplicate rows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and Tableau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rep heading"/>
          <p:cNvSpPr txBox="1"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the data</a:t>
            </a:r>
            <a:endParaRPr lang="en-US" sz="2000" dirty="0"/>
          </a:p>
        </p:txBody>
      </p:sp>
      <p:sp>
        <p:nvSpPr>
          <p:cNvPr id="6" name="Prep points"/>
          <p:cNvSpPr txBox="1"/>
          <p:nvPr/>
        </p:nvSpPr>
        <p:spPr>
          <a:xfrm>
            <a:off x="640080" y="16916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 and duplicates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year, quarter and month columns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country names for the Tableau map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clean CSV to Tableau</a:t>
            </a:r>
            <a:endParaRPr lang="en-US" sz="1500" dirty="0"/>
          </a:p>
        </p:txBody>
      </p:sp>
      <p:sp>
        <p:nvSpPr>
          <p:cNvPr id="7" name="Tableau heading"/>
          <p:cNvSpPr txBox="1"/>
          <p:nvPr/>
        </p:nvSpPr>
        <p:spPr>
          <a:xfrm>
            <a:off x="484632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 Tableau</a:t>
            </a:r>
            <a:endParaRPr lang="en-US" sz="2000" dirty="0"/>
          </a:p>
        </p:txBody>
      </p:sp>
      <p:sp>
        <p:nvSpPr>
          <p:cNvPr id="8" name="Tableau points"/>
          <p:cNvSpPr txBox="1"/>
          <p:nvPr/>
        </p:nvSpPr>
        <p:spPr>
          <a:xfrm>
            <a:off x="4846320" y="16916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visualizations, including a world map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calculated fields: Tax Band, Price Category, Price Brent Ratio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dashboards with filters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3-page story, published on Tableau Public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 visualizations at a glance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Group 1"/>
          <p:cNvSpPr txBox="1"/>
          <p:nvPr/>
        </p:nvSpPr>
        <p:spPr>
          <a:xfrm>
            <a:off x="640080" y="1234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view</a:t>
            </a:r>
            <a:endParaRPr lang="en-US" sz="2000" dirty="0"/>
          </a:p>
        </p:txBody>
      </p:sp>
      <p:sp>
        <p:nvSpPr>
          <p:cNvPr id="5" name="Group list 1"/>
          <p:cNvSpPr txBox="1"/>
          <p:nvPr/>
        </p:nvSpPr>
        <p:spPr>
          <a:xfrm>
            <a:off x="640080" y="178308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Price by Region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Tax by Region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Price by Subsidy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Group 2"/>
          <p:cNvSpPr txBox="1"/>
          <p:nvPr/>
        </p:nvSpPr>
        <p:spPr>
          <a:xfrm>
            <a:off x="3474720" y="1234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view</a:t>
            </a:r>
            <a:endParaRPr lang="en-US" sz="2000" dirty="0"/>
          </a:p>
        </p:txBody>
      </p:sp>
      <p:sp>
        <p:nvSpPr>
          <p:cNvPr id="8" name="Group list 2"/>
          <p:cNvSpPr txBox="1"/>
          <p:nvPr/>
        </p:nvSpPr>
        <p:spPr>
          <a:xfrm>
            <a:off x="3474720" y="178308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Price Trend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Petrol vs Brent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Top 10 Countries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World Map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Regional Trend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097280"/>
            <a:ext cx="25603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Group 3"/>
          <p:cNvSpPr txBox="1"/>
          <p:nvPr/>
        </p:nvSpPr>
        <p:spPr>
          <a:xfrm>
            <a:off x="6309360" y="1234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view</a:t>
            </a:r>
            <a:endParaRPr lang="en-US" sz="2000" dirty="0"/>
          </a:p>
        </p:txBody>
      </p:sp>
      <p:sp>
        <p:nvSpPr>
          <p:cNvPr id="11" name="Group list 3"/>
          <p:cNvSpPr txBox="1"/>
          <p:nvPr/>
        </p:nvSpPr>
        <p:spPr>
          <a:xfrm>
            <a:off x="6309360" y="178308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Price by Income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uses Subsidy and Tax charts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view: price by region and subsidy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42976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1051560"/>
          <a:ext cx="40233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akeaway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pays about three times more than the Middle East. More subsidy means a much lower pump price.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view: tax by region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394960" y="1188720"/>
            <a:ext cx="3291840" cy="1554480"/>
          </a:xfrm>
          <a:prstGeom prst="rect">
            <a:avLst/>
          </a:prstGeom>
          <a:solidFill>
            <a:srgbClr val="14232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tat average tax in all 44 Low-subsidy countries"/>
          <p:cNvSpPr txBox="1"/>
          <p:nvPr/>
        </p:nvSpPr>
        <p:spPr>
          <a:xfrm>
            <a:off x="5577840" y="12801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37%</a:t>
            </a:r>
            <a:endParaRPr lang="en-US" sz="4000" dirty="0"/>
          </a:p>
        </p:txBody>
      </p:sp>
      <p:sp>
        <p:nvSpPr>
          <p:cNvPr id="6" name="Label average tax in all 44 Low-subsidy countries"/>
          <p:cNvSpPr txBox="1"/>
          <p:nvPr/>
        </p:nvSpPr>
        <p:spPr>
          <a:xfrm>
            <a:off x="557784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tax in all 44 Low-subsidy countries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94960" y="2926080"/>
            <a:ext cx="3291840" cy="1554480"/>
          </a:xfrm>
          <a:prstGeom prst="rect">
            <a:avLst/>
          </a:prstGeom>
          <a:solidFill>
            <a:srgbClr val="14232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tat average tax in the other 40 countries"/>
          <p:cNvSpPr txBox="1"/>
          <p:nvPr/>
        </p:nvSpPr>
        <p:spPr>
          <a:xfrm>
            <a:off x="5577840" y="3017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4000" dirty="0"/>
          </a:p>
        </p:txBody>
      </p:sp>
      <p:sp>
        <p:nvSpPr>
          <p:cNvPr id="9" name="Label average tax in the other 40 countries"/>
          <p:cNvSpPr txBox="1"/>
          <p:nvPr/>
        </p:nvSpPr>
        <p:spPr>
          <a:xfrm>
            <a:off x="5577840" y="3749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tax in the other 40 countries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view: price and oil trend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42976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1051560"/>
          <a:ext cx="40233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akeaway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lines rise and fall together: when crude oil goes up, petrol goes up. Petrol rose about 78% from 2020 to 2026.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view: top and bottom markets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42976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754880" y="1051560"/>
          <a:ext cx="40233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akeaway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map in Tableau shows the same pattern: Europe and Oceania are dark (expensive), Middle East and North Africa are light (cheap).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view: regional trends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8412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keaway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region follows the same shape, with a dip in 2023. Europe and Oceania stay far above the rest.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view: income and subsidy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4846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0" y="1188720"/>
            <a:ext cx="3200400" cy="1554480"/>
          </a:xfrm>
          <a:prstGeom prst="rect">
            <a:avLst/>
          </a:prstGeom>
          <a:solidFill>
            <a:srgbClr val="14232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tat high-income countries are Low-subsidy"/>
          <p:cNvSpPr txBox="1"/>
          <p:nvPr/>
        </p:nvSpPr>
        <p:spPr>
          <a:xfrm>
            <a:off x="5669280" y="1280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of 32</a:t>
            </a:r>
            <a:endParaRPr lang="en-US" sz="4000" dirty="0"/>
          </a:p>
        </p:txBody>
      </p:sp>
      <p:sp>
        <p:nvSpPr>
          <p:cNvPr id="6" name="Label high-income countries are Low-subsidy"/>
          <p:cNvSpPr txBox="1"/>
          <p:nvPr/>
        </p:nvSpPr>
        <p:spPr>
          <a:xfrm>
            <a:off x="5669280" y="2011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countries are Low-subsidy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0" y="2926080"/>
            <a:ext cx="3200400" cy="1554480"/>
          </a:xfrm>
          <a:prstGeom prst="rect">
            <a:avLst/>
          </a:prstGeom>
          <a:solidFill>
            <a:srgbClr val="14232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tat high-income countries give High or Very High subsidy"/>
          <p:cNvSpPr txBox="1"/>
          <p:nvPr/>
        </p:nvSpPr>
        <p:spPr>
          <a:xfrm>
            <a:off x="5669280" y="3017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Label high-income countries give High or Very High subsidy"/>
          <p:cNvSpPr txBox="1"/>
          <p:nvPr/>
        </p:nvSpPr>
        <p:spPr>
          <a:xfrm>
            <a:off x="5669280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countries give High or Very High subsidy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countries pay more mainly because they subsidise less, not only because they earn more.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recommend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Rec heading 1"/>
          <p:cNvSpPr txBox="1"/>
          <p:nvPr/>
        </p:nvSpPr>
        <p:spPr>
          <a:xfrm>
            <a:off x="64008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makers</a:t>
            </a:r>
            <a:endParaRPr lang="en-US" sz="2000" dirty="0"/>
          </a:p>
        </p:txBody>
      </p:sp>
      <p:sp>
        <p:nvSpPr>
          <p:cNvPr id="5" name="Rec text 1"/>
          <p:cNvSpPr txBox="1"/>
          <p:nvPr/>
        </p:nvSpPr>
        <p:spPr>
          <a:xfrm>
            <a:off x="640080" y="19202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tax and subsidy together. Very High-subsidy countries carry a large cost when oil prices rise.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560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Rec heading 2"/>
          <p:cNvSpPr txBox="1"/>
          <p:nvPr/>
        </p:nvSpPr>
        <p:spPr>
          <a:xfrm>
            <a:off x="347472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teams</a:t>
            </a:r>
            <a:endParaRPr lang="en-US" sz="2000" dirty="0"/>
          </a:p>
        </p:txBody>
      </p:sp>
      <p:sp>
        <p:nvSpPr>
          <p:cNvPr id="8" name="Rec text 2"/>
          <p:cNvSpPr txBox="1"/>
          <p:nvPr/>
        </p:nvSpPr>
        <p:spPr>
          <a:xfrm>
            <a:off x="3474720" y="19202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in the Middle East, North Africa and South America. Budget extra for volatile markets.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560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Rec heading 3"/>
          <p:cNvSpPr txBox="1"/>
          <p:nvPr/>
        </p:nvSpPr>
        <p:spPr>
          <a:xfrm>
            <a:off x="6309360" y="1371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Researchers</a:t>
            </a:r>
            <a:endParaRPr lang="en-US" sz="2000" dirty="0"/>
          </a:p>
        </p:txBody>
      </p:sp>
      <p:sp>
        <p:nvSpPr>
          <p:cNvPr id="11" name="Rec text 3"/>
          <p:cNvSpPr txBox="1"/>
          <p:nvPr/>
        </p:nvSpPr>
        <p:spPr>
          <a:xfrm>
            <a:off x="6309360" y="19202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countries within the same subsidy tier, and study each country separately against Brent.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and conclusion</a:t>
            </a:r>
            <a:endParaRPr lang="en-US" sz="3400" dirty="0"/>
          </a:p>
        </p:txBody>
      </p:sp>
      <p:sp>
        <p:nvSpPr>
          <p:cNvPr id="3" name="Limits"/>
          <p:cNvSpPr txBox="1"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tax values jump around inside one country, so we used averages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Petrol, diesel and LPG move almost together, so petrol stands for all three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subsidy labels do not change over time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oil price moves fuel prices over time, while subsidy and tax set the price level of each country</a:t>
            </a:r>
            <a:endParaRPr lang="en-US" sz="1600" dirty="0"/>
          </a:p>
        </p:txBody>
      </p:sp>
      <p:sp>
        <p:nvSpPr>
          <p:cNvPr id="4" name="Link"/>
          <p:cNvSpPr txBox="1"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on Tableau Public</a:t>
            </a:r>
            <a:endParaRPr lang="en-US" sz="1600" dirty="0"/>
          </a:p>
          <a:p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story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Fuel Prices and Taxation Analysis</dc:title>
  <dc:subject>PptxGenJS Presentation</dc:subject>
  <dc:creator>Vidhya Jain</dc:creator>
  <cp:lastModifiedBy>Vidhya Jain</cp:lastModifiedBy>
  <cp:revision>1</cp:revision>
  <dcterms:created xsi:type="dcterms:W3CDTF">2026-10-27T10:48:57Z</dcterms:created>
  <dcterms:modified xsi:type="dcterms:W3CDTF">2026-10-27T10:48:57Z</dcterms:modified>
</cp:coreProperties>
</file>